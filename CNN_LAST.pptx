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75" r:id="rId11"/>
    <p:sldId id="276" r:id="rId12"/>
    <p:sldId id="274" r:id="rId13"/>
    <p:sldId id="277" r:id="rId14"/>
    <p:sldId id="278" r:id="rId15"/>
    <p:sldId id="279" r:id="rId16"/>
    <p:sldId id="265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32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4436-277D-0C03-BAEE-FA694060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D78E5-15E3-B98A-FC02-426C129A8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B70C6-F21E-33A3-4B06-A21C291C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70072-F69A-FB74-C790-164255C8D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64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26D0-0843-1310-3F88-E74595ED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4525F-DD82-2A62-7B2F-6DB7349B4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ABEAD-7C1F-FA3F-7668-AB904E55A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E9F62-7841-68F5-684E-BFBC7ADDF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85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3BAD-1751-91AF-2897-F831DE6F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F2D5B-B57D-BE21-4F62-9C9BB9AEA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DABAF-5C1B-61F0-FFAC-9064323D4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0E10D-9DBF-CC75-3322-D34BCA561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2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AE7D-A528-BD5F-898E-61A8F819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791B3-0834-C8F6-A624-67F404B0C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B7E6D-3D31-241A-C128-F0CE33B09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69829-4D72-7FAD-694C-A0D9F8E48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45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EE13F-1191-176E-B278-FEC65011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35CCF-AE35-BF9A-012A-DF87408D8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F91FD-6D26-FB2A-C4EE-B42A75C73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1921B-E09D-590F-26F5-CA1F02BED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85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9015-D85E-3F34-56B5-D1218748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E0BAF-6932-57AC-0FF9-3C5D110CE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ACD61-B569-66AD-889A-EC8171D27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AA63-7C72-2A9D-C6EA-38211F34A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8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Human-Computer Interaction for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Convolution in 3D-Space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2743200"/>
            <a:ext cx="2743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EE630T - Computer Vision and Digital Image Processing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Guidance of: </a:t>
            </a:r>
            <a:r>
              <a:rPr lang="en-US" sz="11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Shashaank Aswatha Mattur</a:t>
            </a: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Dept. of EECE, IIT Dharwad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3200400" cy="914400"/>
          </a:xfrm>
          <a:prstGeom prst="rect">
            <a:avLst/>
          </a:prstGeom>
          <a:solidFill>
            <a:srgbClr val="F1F3F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931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Khumukcham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CS25DP007 | Dept. of CSE, IIT Dharwad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3840480"/>
            <a:ext cx="3200400" cy="914400"/>
          </a:xfrm>
          <a:prstGeom prst="rect">
            <a:avLst/>
          </a:prstGeom>
          <a:solidFill>
            <a:srgbClr val="F1F3F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97680" y="3931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Ambekar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EE25DP007 | Dept. of EECE, IIT Dharwad</a:t>
            </a:r>
            <a:endParaRPr lang="en-US" sz="1200" dirty="0"/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8D76AC21-2817-2DBB-061E-D14A2114E1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915" y="114300"/>
            <a:ext cx="880459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857" y="914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96020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960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7503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9789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challenge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26372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63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2806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5092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visualization approaches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856724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567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8110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0396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methodology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87076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870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3413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5699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structure with PCA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17428"/>
            <a:ext cx="347472" cy="34747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174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8717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1003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demonstration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447780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477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4020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6306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considerations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978132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781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39324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41610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CA5F98CB-9899-0464-5C07-68CBBBD9B14B}"/>
              </a:ext>
            </a:extLst>
          </p:cNvPr>
          <p:cNvSpPr/>
          <p:nvPr/>
        </p:nvSpPr>
        <p:spPr>
          <a:xfrm>
            <a:off x="640080" y="4462764"/>
            <a:ext cx="347472" cy="347472"/>
          </a:xfrm>
          <a:prstGeom prst="ellipse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6E7016C0-0CE2-3EE8-2E39-A9458201514F}"/>
              </a:ext>
            </a:extLst>
          </p:cNvPr>
          <p:cNvSpPr/>
          <p:nvPr/>
        </p:nvSpPr>
        <p:spPr>
          <a:xfrm>
            <a:off x="640080" y="4462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0DA1A2B-4616-31B3-3F34-90CBCA270FD0}"/>
              </a:ext>
            </a:extLst>
          </p:cNvPr>
          <p:cNvSpPr/>
          <p:nvPr/>
        </p:nvSpPr>
        <p:spPr>
          <a:xfrm>
            <a:off x="1188720" y="44993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C3EEA9B4-6245-D37B-CC3C-3238E7F4B216}"/>
              </a:ext>
            </a:extLst>
          </p:cNvPr>
          <p:cNvSpPr/>
          <p:nvPr/>
        </p:nvSpPr>
        <p:spPr>
          <a:xfrm>
            <a:off x="1188720" y="46456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act as invisible black boxes, creating a need for interactive 3D tools that make the hidden math visible and easy to learn.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DF2E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D354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increasing complexity of modern deep learning models creates significant barriers to understanding how they process information. Students and researchers alike struggle to build intuition about internal representations.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Kahng et al. (2019), IEEE TVCG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F6E5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visualization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0116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experimentation transforms abstract, high-dimensional mathematics into a concrete, playful, and observable space. Educational AI must keep the human in the loop and empower direct manipulation.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Alfredo et al. (2024), Computers and Education: AI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4297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tools that let learners see, touch, and experiment with neural network internals.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54880" y="996696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0" y="996696"/>
            <a:ext cx="393192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271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Harley's 3D visualization (2015)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819656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value of spatial, node-link representations for MNIST, allowing users to draw digits and see network paths light up in 3D space. Established that interactive CNN visualization aids comprehension.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3648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Harley, A. W. (2015). ISVC, pp. 867-877.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existing tool combines real-time inference, full intermediate extraction, and 3D game-engine rendering.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4BEA62-2B94-6537-5993-3E211FA4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3647"/>
            <a:ext cx="4127061" cy="20981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CNN trained on MNIST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epoch, ~97% accuracy).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named layers for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access.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926080"/>
            <a:ext cx="36576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2560320" cy="9144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exported preserving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computational graph.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 bridging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C#.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36576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37160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+ Sentis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at 30+ FPS.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layer extraction.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~12,500 cubes in 3D space.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through the network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1838"/>
            <a:ext cx="1005840" cy="1828800"/>
          </a:xfrm>
          <a:prstGeom prst="rect">
            <a:avLst/>
          </a:prstGeom>
          <a:solidFill>
            <a:srgbClr val="D354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x 28 x 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2560320"/>
            <a:ext cx="228600" cy="0"/>
          </a:xfrm>
          <a:prstGeom prst="line">
            <a:avLst/>
          </a:prstGeom>
          <a:noFill/>
          <a:ln w="19050">
            <a:solidFill>
              <a:srgbClr val="D354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645920"/>
            <a:ext cx="1005840" cy="1828800"/>
          </a:xfrm>
          <a:prstGeom prst="rect">
            <a:avLst/>
          </a:prstGeom>
          <a:solidFill>
            <a:srgbClr val="2980B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x 28 x 28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2560320"/>
            <a:ext cx="228600" cy="0"/>
          </a:xfrm>
          <a:prstGeom prst="line">
            <a:avLst/>
          </a:prstGeom>
          <a:noFill/>
          <a:ln w="19050">
            <a:solidFill>
              <a:srgbClr val="D35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645920"/>
            <a:ext cx="1005840" cy="1828800"/>
          </a:xfrm>
          <a:prstGeom prst="rect">
            <a:avLst/>
          </a:prstGeom>
          <a:solidFill>
            <a:srgbClr val="27AE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x 14 x 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2560320"/>
            <a:ext cx="228600" cy="0"/>
          </a:xfrm>
          <a:prstGeom prst="line">
            <a:avLst/>
          </a:prstGeom>
          <a:noFill/>
          <a:ln w="19050">
            <a:solidFill>
              <a:srgbClr val="D35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645920"/>
            <a:ext cx="1005840" cy="1828800"/>
          </a:xfrm>
          <a:prstGeom prst="rect">
            <a:avLst/>
          </a:prstGeom>
          <a:solidFill>
            <a:srgbClr val="2980B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14 x 14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2560320"/>
            <a:ext cx="228600" cy="0"/>
          </a:xfrm>
          <a:prstGeom prst="line">
            <a:avLst/>
          </a:prstGeom>
          <a:noFill/>
          <a:ln w="19050">
            <a:solidFill>
              <a:srgbClr val="D35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645920"/>
            <a:ext cx="1005840" cy="1828800"/>
          </a:xfrm>
          <a:prstGeom prst="rect">
            <a:avLst/>
          </a:prstGeom>
          <a:solidFill>
            <a:srgbClr val="27AE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7 x 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560320"/>
            <a:ext cx="228600" cy="0"/>
          </a:xfrm>
          <a:prstGeom prst="line">
            <a:avLst/>
          </a:prstGeom>
          <a:noFill/>
          <a:ln w="19050">
            <a:solidFill>
              <a:srgbClr val="D35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1645920"/>
            <a:ext cx="1005840" cy="1828800"/>
          </a:xfrm>
          <a:prstGeom prst="rect">
            <a:avLst/>
          </a:prstGeom>
          <a:solidFill>
            <a:srgbClr val="534AB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940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2560320"/>
            <a:ext cx="228600" cy="0"/>
          </a:xfrm>
          <a:prstGeom prst="line">
            <a:avLst/>
          </a:prstGeom>
          <a:noFill/>
          <a:ln w="19050">
            <a:solidFill>
              <a:srgbClr val="D354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1645920"/>
            <a:ext cx="1005840" cy="1828800"/>
          </a:xfrm>
          <a:prstGeom prst="rect">
            <a:avLst/>
          </a:prstGeom>
          <a:solidFill>
            <a:srgbClr val="D354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35278" y="4107426"/>
            <a:ext cx="47180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layer's activations are extracted and rendered as 3D cube grids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/mnt/user-data/outputs/cnn_visualizer_system_overview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822960"/>
            <a:ext cx="41148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754880" y="1481328"/>
            <a:ext cx="201168" cy="20116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6" name="Text 3"/>
          <p:cNvSpPr/>
          <p:nvPr/>
        </p:nvSpPr>
        <p:spPr>
          <a:xfrm>
            <a:off x="51206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once, update colors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~12,500 cubes created at startup. Only material colors change during inference.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2258568"/>
            <a:ext cx="201168" cy="20116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layer extraction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Sentis AddOutput() exposes layers at indices 10, 15, 25, 30 from the ONNX graph.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3035808"/>
            <a:ext cx="201168" cy="20116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propagation animation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lerp layer-by-layer with SmoothStep easing for a natural data-flow feel.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3813048"/>
            <a:ext cx="201168" cy="201168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flatten layer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784D vector projected to 3D space showing digit class clusters in real-time.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FDF2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digit and watch the network think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0C1A4-6AA7-6122-A810-50384514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DD4EB6-A64E-36E5-316F-E396EFE79119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Reduction.</a:t>
            </a:r>
            <a:endParaRPr lang="en-US" sz="3200" dirty="0"/>
          </a:p>
        </p:txBody>
      </p:sp>
      <p:pic>
        <p:nvPicPr>
          <p:cNvPr id="5" name="Google Shape;240;p23" descr="image.png">
            <a:extLst>
              <a:ext uri="{FF2B5EF4-FFF2-40B4-BE49-F238E27FC236}">
                <a16:creationId xmlns:a16="http://schemas.microsoft.com/office/drawing/2014/main" id="{8BE62A36-6662-B85A-2762-E48C620BBA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687" y="1063079"/>
            <a:ext cx="3876675" cy="3623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1;p23" descr="image.png">
            <a:extLst>
              <a:ext uri="{FF2B5EF4-FFF2-40B4-BE49-F238E27FC236}">
                <a16:creationId xmlns:a16="http://schemas.microsoft.com/office/drawing/2014/main" id="{8BFD5B86-C636-EBA8-C1DB-3CECA54976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1638" y="1063079"/>
            <a:ext cx="3876675" cy="36232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3;p23">
            <a:extLst>
              <a:ext uri="{FF2B5EF4-FFF2-40B4-BE49-F238E27FC236}">
                <a16:creationId xmlns:a16="http://schemas.microsoft.com/office/drawing/2014/main" id="{EB764C73-FF1B-DB3E-5B00-269EDCB752E3}"/>
              </a:ext>
            </a:extLst>
          </p:cNvPr>
          <p:cNvSpPr txBox="1"/>
          <p:nvPr/>
        </p:nvSpPr>
        <p:spPr>
          <a:xfrm>
            <a:off x="656687" y="1520279"/>
            <a:ext cx="349920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/>
          </a:p>
        </p:txBody>
      </p:sp>
      <p:sp>
        <p:nvSpPr>
          <p:cNvPr id="8" name="Google Shape;244;p23">
            <a:extLst>
              <a:ext uri="{FF2B5EF4-FFF2-40B4-BE49-F238E27FC236}">
                <a16:creationId xmlns:a16="http://schemas.microsoft.com/office/drawing/2014/main" id="{A8F5328F-562F-B3F4-93CD-04DE9B0B44B2}"/>
              </a:ext>
            </a:extLst>
          </p:cNvPr>
          <p:cNvSpPr txBox="1"/>
          <p:nvPr/>
        </p:nvSpPr>
        <p:spPr>
          <a:xfrm>
            <a:off x="656687" y="2219325"/>
            <a:ext cx="333258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784-D</a:t>
            </a:r>
            <a:endParaRPr/>
          </a:p>
        </p:txBody>
      </p:sp>
      <p:sp>
        <p:nvSpPr>
          <p:cNvPr id="9" name="Google Shape;245;p23">
            <a:extLst>
              <a:ext uri="{FF2B5EF4-FFF2-40B4-BE49-F238E27FC236}">
                <a16:creationId xmlns:a16="http://schemas.microsoft.com/office/drawing/2014/main" id="{B07AAD7F-19B5-3FB5-E3C4-FCE96AA30740}"/>
              </a:ext>
            </a:extLst>
          </p:cNvPr>
          <p:cNvSpPr txBox="1"/>
          <p:nvPr/>
        </p:nvSpPr>
        <p:spPr>
          <a:xfrm>
            <a:off x="656687" y="3362325"/>
            <a:ext cx="3332580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C4043"/>
                </a:solidFill>
                <a:latin typeface="Calibri"/>
                <a:ea typeface="Calibri"/>
                <a:cs typeface="Calibri"/>
                <a:sym typeface="Calibri"/>
              </a:rPr>
              <a:t>An image with 28×28 pixels is a single point in a massive 784-dimensional space, impossible to visualize natively.</a:t>
            </a:r>
            <a:endParaRPr/>
          </a:p>
        </p:txBody>
      </p:sp>
      <p:sp>
        <p:nvSpPr>
          <p:cNvPr id="10" name="Google Shape;246;p23">
            <a:extLst>
              <a:ext uri="{FF2B5EF4-FFF2-40B4-BE49-F238E27FC236}">
                <a16:creationId xmlns:a16="http://schemas.microsoft.com/office/drawing/2014/main" id="{D8D8D5AE-E2B2-9CAF-2BC0-243C5BB05292}"/>
              </a:ext>
            </a:extLst>
          </p:cNvPr>
          <p:cNvSpPr txBox="1"/>
          <p:nvPr/>
        </p:nvSpPr>
        <p:spPr>
          <a:xfrm>
            <a:off x="5525097" y="1514425"/>
            <a:ext cx="349920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PCA's answer</a:t>
            </a:r>
            <a:endParaRPr dirty="0"/>
          </a:p>
        </p:txBody>
      </p:sp>
      <p:sp>
        <p:nvSpPr>
          <p:cNvPr id="11" name="Google Shape;247;p23">
            <a:extLst>
              <a:ext uri="{FF2B5EF4-FFF2-40B4-BE49-F238E27FC236}">
                <a16:creationId xmlns:a16="http://schemas.microsoft.com/office/drawing/2014/main" id="{304D00D0-B11E-8594-724C-2FBCE2452FD9}"/>
              </a:ext>
            </a:extLst>
          </p:cNvPr>
          <p:cNvSpPr txBox="1"/>
          <p:nvPr/>
        </p:nvSpPr>
        <p:spPr>
          <a:xfrm>
            <a:off x="5289323" y="2022800"/>
            <a:ext cx="3499209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Find the 3 axes of maximum variance</a:t>
            </a:r>
            <a:endParaRPr dirty="0"/>
          </a:p>
        </p:txBody>
      </p:sp>
      <p:sp>
        <p:nvSpPr>
          <p:cNvPr id="12" name="Google Shape;248;p23">
            <a:extLst>
              <a:ext uri="{FF2B5EF4-FFF2-40B4-BE49-F238E27FC236}">
                <a16:creationId xmlns:a16="http://schemas.microsoft.com/office/drawing/2014/main" id="{9F7987FF-6DCC-D533-4EE2-DF3917570543}"/>
              </a:ext>
            </a:extLst>
          </p:cNvPr>
          <p:cNvSpPr txBox="1"/>
          <p:nvPr/>
        </p:nvSpPr>
        <p:spPr>
          <a:xfrm>
            <a:off x="5263685" y="2763340"/>
            <a:ext cx="3332580" cy="190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C4043"/>
                </a:solidFill>
                <a:latin typeface="Calibri"/>
                <a:ea typeface="Calibri"/>
                <a:cs typeface="Calibri"/>
                <a:sym typeface="Calibri"/>
              </a:rPr>
              <a:t>Projecting the 784-D data onto the top principal axes allows us to compress and visualize it in 3D while retaining the most critical structural information.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073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A3A5D-823E-1D0D-3E62-6F636D55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9D3F9F-DAF0-4220-B28F-CBEA4A998462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3200" dirty="0"/>
          </a:p>
        </p:txBody>
      </p:sp>
      <p:pic>
        <p:nvPicPr>
          <p:cNvPr id="3" name="Google Shape;255;p24" descr="image.png">
            <a:extLst>
              <a:ext uri="{FF2B5EF4-FFF2-40B4-BE49-F238E27FC236}">
                <a16:creationId xmlns:a16="http://schemas.microsoft.com/office/drawing/2014/main" id="{ECA6AA52-AEA9-9BB0-C9D5-414D9E35AE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41" y="1397304"/>
            <a:ext cx="2011083" cy="215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56;p24" descr="image.png">
            <a:extLst>
              <a:ext uri="{FF2B5EF4-FFF2-40B4-BE49-F238E27FC236}">
                <a16:creationId xmlns:a16="http://schemas.microsoft.com/office/drawing/2014/main" id="{2C4671E5-24EC-6D47-7D56-DED5389DE2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3712" y="1397304"/>
            <a:ext cx="2011083" cy="215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7;p24" descr="image.png">
            <a:extLst>
              <a:ext uri="{FF2B5EF4-FFF2-40B4-BE49-F238E27FC236}">
                <a16:creationId xmlns:a16="http://schemas.microsoft.com/office/drawing/2014/main" id="{057900DE-992E-72F8-AC7C-CC677469A09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3830" y="1397304"/>
            <a:ext cx="2011083" cy="215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58;p24" descr="image.png">
            <a:extLst>
              <a:ext uri="{FF2B5EF4-FFF2-40B4-BE49-F238E27FC236}">
                <a16:creationId xmlns:a16="http://schemas.microsoft.com/office/drawing/2014/main" id="{F04AEAB3-9E1E-0E43-E695-63FDA37D597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91057" y="1397304"/>
            <a:ext cx="2011083" cy="21583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59;p24">
            <a:extLst>
              <a:ext uri="{FF2B5EF4-FFF2-40B4-BE49-F238E27FC236}">
                <a16:creationId xmlns:a16="http://schemas.microsoft.com/office/drawing/2014/main" id="{08721D11-2A1A-7328-25C8-77C2780A32A5}"/>
              </a:ext>
            </a:extLst>
          </p:cNvPr>
          <p:cNvSpPr txBox="1"/>
          <p:nvPr/>
        </p:nvSpPr>
        <p:spPr>
          <a:xfrm>
            <a:off x="540276" y="1690754"/>
            <a:ext cx="991066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Center</a:t>
            </a:r>
            <a:endParaRPr dirty="0"/>
          </a:p>
        </p:txBody>
      </p:sp>
      <p:sp>
        <p:nvSpPr>
          <p:cNvPr id="8" name="Google Shape;260;p24">
            <a:extLst>
              <a:ext uri="{FF2B5EF4-FFF2-40B4-BE49-F238E27FC236}">
                <a16:creationId xmlns:a16="http://schemas.microsoft.com/office/drawing/2014/main" id="{024F81D7-B177-B92D-1894-1FB80E38C6BD}"/>
              </a:ext>
            </a:extLst>
          </p:cNvPr>
          <p:cNvSpPr txBox="1"/>
          <p:nvPr/>
        </p:nvSpPr>
        <p:spPr>
          <a:xfrm>
            <a:off x="2758688" y="1680298"/>
            <a:ext cx="146159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Covariance</a:t>
            </a:r>
            <a:endParaRPr dirty="0"/>
          </a:p>
        </p:txBody>
      </p:sp>
      <p:sp>
        <p:nvSpPr>
          <p:cNvPr id="9" name="Google Shape;261;p24">
            <a:extLst>
              <a:ext uri="{FF2B5EF4-FFF2-40B4-BE49-F238E27FC236}">
                <a16:creationId xmlns:a16="http://schemas.microsoft.com/office/drawing/2014/main" id="{096D2709-E1AE-B05C-4C14-EC3BCF4F574D}"/>
              </a:ext>
            </a:extLst>
          </p:cNvPr>
          <p:cNvSpPr txBox="1"/>
          <p:nvPr/>
        </p:nvSpPr>
        <p:spPr>
          <a:xfrm>
            <a:off x="4849520" y="1690754"/>
            <a:ext cx="183970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35400"/>
                </a:solidFill>
                <a:latin typeface="Calibri"/>
                <a:ea typeface="Calibri"/>
                <a:cs typeface="Calibri"/>
                <a:sym typeface="Calibri"/>
              </a:rPr>
              <a:t>Eigen decompose</a:t>
            </a:r>
            <a:endParaRPr dirty="0"/>
          </a:p>
        </p:txBody>
      </p:sp>
      <p:sp>
        <p:nvSpPr>
          <p:cNvPr id="10" name="Google Shape;262;p24">
            <a:extLst>
              <a:ext uri="{FF2B5EF4-FFF2-40B4-BE49-F238E27FC236}">
                <a16:creationId xmlns:a16="http://schemas.microsoft.com/office/drawing/2014/main" id="{28732A48-9D56-9EB8-83C2-CD3B7E2967DC}"/>
              </a:ext>
            </a:extLst>
          </p:cNvPr>
          <p:cNvSpPr txBox="1"/>
          <p:nvPr/>
        </p:nvSpPr>
        <p:spPr>
          <a:xfrm>
            <a:off x="7382947" y="1740469"/>
            <a:ext cx="122730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dirty="0"/>
          </a:p>
        </p:txBody>
      </p:sp>
      <p:pic>
        <p:nvPicPr>
          <p:cNvPr id="11" name="Google Shape;263;p24" descr="image.png">
            <a:extLst>
              <a:ext uri="{FF2B5EF4-FFF2-40B4-BE49-F238E27FC236}">
                <a16:creationId xmlns:a16="http://schemas.microsoft.com/office/drawing/2014/main" id="{D49C6F51-FBC1-F1B0-E214-6E902AEBF58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3884" y="2322878"/>
            <a:ext cx="991067" cy="24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64;p24" descr="image.png">
            <a:extLst>
              <a:ext uri="{FF2B5EF4-FFF2-40B4-BE49-F238E27FC236}">
                <a16:creationId xmlns:a16="http://schemas.microsoft.com/office/drawing/2014/main" id="{719B2CE7-1A72-2EDF-EDEB-0EE2EE329D2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6075" y="2239770"/>
            <a:ext cx="966825" cy="34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65;p24" descr="image.png">
            <a:extLst>
              <a:ext uri="{FF2B5EF4-FFF2-40B4-BE49-F238E27FC236}">
                <a16:creationId xmlns:a16="http://schemas.microsoft.com/office/drawing/2014/main" id="{6E45C869-843E-9BD4-8240-CEBA90D7F09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57562" y="2333839"/>
            <a:ext cx="1125733" cy="23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66;p24" descr="image.png">
            <a:extLst>
              <a:ext uri="{FF2B5EF4-FFF2-40B4-BE49-F238E27FC236}">
                <a16:creationId xmlns:a16="http://schemas.microsoft.com/office/drawing/2014/main" id="{8BAD2855-E11C-B754-551A-E14E8FC8C47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05156" y="2268799"/>
            <a:ext cx="1447931" cy="265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A53361D-52CD-5991-5C9D-6D53DB05D788}"/>
              </a:ext>
            </a:extLst>
          </p:cNvPr>
          <p:cNvSpPr txBox="1"/>
          <p:nvPr/>
        </p:nvSpPr>
        <p:spPr>
          <a:xfrm>
            <a:off x="457200" y="4057346"/>
            <a:ext cx="78422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Principal Component Analysis is a way of taking data that lives in a high-dimensional space and finding the handful of directions along which the data actually varies the most, then projecting onto those directions to get a low-dimensional view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11948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0E47C-927C-7E1C-22E0-73AA3904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88C2F6-D831-EBE3-DCDD-284E49F1DF6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 dirty="0"/>
              <a:t>Step 1: </a:t>
            </a:r>
            <a:r>
              <a:rPr lang="en-IN" sz="3200" b="1" dirty="0" err="1"/>
              <a:t>Center</a:t>
            </a:r>
            <a:r>
              <a:rPr lang="en-IN" sz="3200" b="1" dirty="0"/>
              <a:t> the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9505BF-2A7A-D48D-FEF4-6783F9460476}"/>
                  </a:ext>
                </a:extLst>
              </p:cNvPr>
              <p:cNvSpPr txBox="1"/>
              <p:nvPr/>
            </p:nvSpPr>
            <p:spPr>
              <a:xfrm>
                <a:off x="248330" y="908689"/>
                <a:ext cx="8229599" cy="1017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We have </a:t>
                </a:r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</m:oMath>
                </a14:m>
                <a:r>
                  <a:rPr lang="en-IN" dirty="0"/>
                  <a:t>data points, each a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ℝ</m:t>
                        </m:r>
                      </m:e>
                      <m:sup>
                        <m:r>
                          <a:rPr lang="ar-AE" i="1"/>
                          <m:t>𝑑</m:t>
                        </m:r>
                      </m:sup>
                    </m:sSup>
                  </m:oMath>
                </a14:m>
                <a:r>
                  <a:rPr lang="ar-AE" dirty="0"/>
                  <a:t>. </a:t>
                </a:r>
                <a:r>
                  <a:rPr lang="en-IN" dirty="0"/>
                  <a:t>Stack them as rows of a matrix 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</m:oMath>
                </a14:m>
                <a:r>
                  <a:rPr lang="en-IN" dirty="0"/>
                  <a:t>of shape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𝑁</m:t>
                        </m:r>
                      </m:e>
                      <m:e>
                        <m:r>
                          <a:rPr lang="ar-AE" i="1"/>
                          <m:t>𝑑</m:t>
                        </m:r>
                      </m:e>
                    </m:d>
                  </m:oMath>
                </a14:m>
                <a:endParaRPr lang="en-IN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/>
                      <m:t>𝑁</m:t>
                    </m:r>
                  </m:oMath>
                </a14:m>
                <a:r>
                  <a:rPr lang="en-IN" dirty="0"/>
                  <a:t>is however many MNIST images we used to fit PCA, and </a:t>
                </a:r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r>
                      <a:rPr lang="en-IN"/>
                      <m:t>=</m:t>
                    </m:r>
                    <m:r>
                      <a:rPr lang="en-IN"/>
                      <m:t>784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9505BF-2A7A-D48D-FEF4-6783F9460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30" y="908689"/>
                <a:ext cx="8229599" cy="1017586"/>
              </a:xfrm>
              <a:prstGeom prst="rect">
                <a:avLst/>
              </a:prstGeom>
              <a:blipFill>
                <a:blip r:embed="rId3"/>
                <a:stretch>
                  <a:fillRect l="-519" b="-8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5C35CE-E859-C65C-3487-56E4C0BC6E4E}"/>
                  </a:ext>
                </a:extLst>
              </p:cNvPr>
              <p:cNvSpPr txBox="1"/>
              <p:nvPr/>
            </p:nvSpPr>
            <p:spPr>
              <a:xfrm>
                <a:off x="2434317" y="2452593"/>
                <a:ext cx="4572000" cy="1529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Subtract the mean of each feature: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lim>
                          <m:r>
                            <a:rPr lang="ar-AE" b="1" smtClean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ar-AE" b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ar-AE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b="1" i="1"/>
                            <m:t>centered</m:t>
                          </m:r>
                        </m:sub>
                      </m:sSub>
                      <m:r>
                        <a:rPr lang="ar-AE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ar-AE" b="1" smtClean="0"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lim>
                          <m:r>
                            <a:rPr lang="ar-AE" b="1" smtClean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</m:oMath>
                  </m:oMathPara>
                </a14:m>
                <a:endParaRPr lang="ar-AE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5C35CE-E859-C65C-3487-56E4C0BC6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17" y="2452593"/>
                <a:ext cx="4572000" cy="1529265"/>
              </a:xfrm>
              <a:prstGeom prst="rect">
                <a:avLst/>
              </a:prstGeom>
              <a:blipFill>
                <a:blip r:embed="rId4"/>
                <a:stretch>
                  <a:fillRect l="-1067" t="-19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557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4A623-7F03-2C57-D7C6-0EA2FFD1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BB00D8-BB18-9AF8-471B-C900ADA60B8A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 dirty="0"/>
              <a:t>Step 2: Compute the covariance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A430AB-4E98-888B-BE1F-29BD6A0599F7}"/>
                  </a:ext>
                </a:extLst>
              </p:cNvPr>
              <p:cNvSpPr txBox="1"/>
              <p:nvPr/>
            </p:nvSpPr>
            <p:spPr>
              <a:xfrm>
                <a:off x="516617" y="3154947"/>
                <a:ext cx="8229599" cy="1521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IN" dirty="0"/>
                  <a:t>is the covariance between feature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dirty="0"/>
                  <a:t> and feature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dirty="0"/>
              </a:p>
              <a:p>
                <a:r>
                  <a:rPr lang="en-IN" dirty="0"/>
                  <a:t>	</a:t>
                </a:r>
                <a:r>
                  <a:rPr lang="en-IN" b="1" dirty="0"/>
                  <a:t>Positive if they tend to move together, </a:t>
                </a:r>
              </a:p>
              <a:p>
                <a:r>
                  <a:rPr lang="en-IN" b="1" dirty="0"/>
                  <a:t>	Negative if they move oppositely, zero if they're uncorrelated</a:t>
                </a:r>
                <a:r>
                  <a:rPr lang="en-IN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diagonal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r>
                  <a:rPr lang="en-IN" dirty="0"/>
                  <a:t>are the variances of each individual feature.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A430AB-4E98-888B-BE1F-29BD6A059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17" y="3154947"/>
                <a:ext cx="8229599" cy="1521955"/>
              </a:xfrm>
              <a:prstGeom prst="rect">
                <a:avLst/>
              </a:prstGeom>
              <a:blipFill>
                <a:blip r:embed="rId3"/>
                <a:stretch>
                  <a:fillRect l="-519" t="-2008" b="-4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0F5598-8747-F982-91FA-A02946268AD1}"/>
                  </a:ext>
                </a:extLst>
              </p:cNvPr>
              <p:cNvSpPr txBox="1"/>
              <p:nvPr/>
            </p:nvSpPr>
            <p:spPr>
              <a:xfrm>
                <a:off x="2218417" y="1672786"/>
                <a:ext cx="457200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Sup>
                        <m:sSub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2800" i="1"/>
                            <m:t>c</m:t>
                          </m:r>
                        </m:sub>
                        <m:sup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2800" i="1"/>
                            <m:t>c</m:t>
                          </m:r>
                        </m:sub>
                      </m:sSub>
                    </m:oMath>
                  </m:oMathPara>
                </a14:m>
                <a:endParaRPr lang="ar-AE" sz="28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0F5598-8747-F982-91FA-A02946268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417" y="1672786"/>
                <a:ext cx="4572000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32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6B7F5-B5FD-3D63-8216-FF9B82BA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D06FC646-CC08-33C1-7794-D813BF4FA861}"/>
                  </a:ext>
                </a:extLst>
              </p:cNvPr>
              <p:cNvSpPr/>
              <p:nvPr/>
            </p:nvSpPr>
            <p:spPr>
              <a:xfrm>
                <a:off x="457200" y="431483"/>
                <a:ext cx="7215188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/>
                  <a:t>Step 3: Find the eigenvectors and eigenvalues of </a:t>
                </a:r>
                <a14:m>
                  <m:oMath xmlns:m="http://schemas.openxmlformats.org/officeDocument/2006/math">
                    <m:r>
                      <a:rPr lang="en-US" sz="3600" b="1" i="1"/>
                      <m:t>𝑪</m:t>
                    </m:r>
                  </m:oMath>
                </a14:m>
                <a:endParaRPr lang="en-IN" sz="3200" b="1" dirty="0"/>
              </a:p>
            </p:txBody>
          </p:sp>
        </mc:Choice>
        <mc:Fallback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D06FC646-CC08-33C1-7794-D813BF4FA8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1483"/>
                <a:ext cx="7215188" cy="548640"/>
              </a:xfrm>
              <a:prstGeom prst="rect">
                <a:avLst/>
              </a:prstGeom>
              <a:blipFill>
                <a:blip r:embed="rId3"/>
                <a:stretch>
                  <a:fillRect l="-3378" t="-67778" b="-8666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F6A3B3-0ECF-B911-DE18-2257C61E51B1}"/>
                  </a:ext>
                </a:extLst>
              </p:cNvPr>
              <p:cNvSpPr txBox="1"/>
              <p:nvPr/>
            </p:nvSpPr>
            <p:spPr>
              <a:xfrm>
                <a:off x="516617" y="2776044"/>
                <a:ext cx="8229599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The eigenvectors are the principal components.</a:t>
                </a:r>
                <a:r>
                  <a:rPr lang="en-US" dirty="0"/>
                  <a:t> </a:t>
                </a:r>
                <a:r>
                  <a:rPr lang="en-US" b="1" dirty="0"/>
                  <a:t>The eigenvalues shows how much variance each captures.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Sort them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𝜆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𝜆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r>
                      <a:rPr lang="ar-AE"/>
                      <m:t>≥…≥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𝜆</m:t>
                        </m:r>
                      </m:e>
                      <m:sub>
                        <m:r>
                          <a:rPr lang="ar-AE" i="1"/>
                          <m:t>𝑑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IN" dirty="0"/>
                  <a:t>Take the top </a:t>
                </a:r>
                <a14:m>
                  <m:oMath xmlns:m="http://schemas.openxmlformats.org/officeDocument/2006/math">
                    <m:r>
                      <a:rPr lang="en-IN" i="1"/>
                      <m:t>𝑘</m:t>
                    </m:r>
                  </m:oMath>
                </a14:m>
                <a:r>
                  <a:rPr lang="en-IN" dirty="0"/>
                  <a:t> eigenvectors </a:t>
                </a:r>
                <a:r>
                  <a:rPr lang="en-IN" b="1" dirty="0"/>
                  <a:t>(</a:t>
                </a:r>
                <a14:m>
                  <m:oMath xmlns:m="http://schemas.openxmlformats.org/officeDocument/2006/math">
                    <m:r>
                      <a:rPr lang="en-IN" b="1" i="1"/>
                      <m:t>𝒌</m:t>
                    </m:r>
                    <m:r>
                      <a:rPr lang="en-IN" b="1"/>
                      <m:t>=</m:t>
                    </m:r>
                    <m:r>
                      <a:rPr lang="en-IN" b="1" i="1"/>
                      <m:t>𝟑</m:t>
                    </m:r>
                  </m:oMath>
                </a14:m>
                <a:r>
                  <a:rPr lang="en-IN" b="1" dirty="0"/>
                  <a:t>),</a:t>
                </a:r>
                <a:r>
                  <a:rPr lang="en-IN" dirty="0"/>
                  <a:t> these are the 3 directions in 784-dim space along which MNIST digits vary the most.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Stack them as rows of a matrix </a:t>
                </a:r>
                <a14:m>
                  <m:oMath xmlns:m="http://schemas.openxmlformats.org/officeDocument/2006/math">
                    <m:r>
                      <a:rPr lang="en-IN" i="1"/>
                      <m:t>𝑊</m:t>
                    </m:r>
                  </m:oMath>
                </a14:m>
                <a:r>
                  <a:rPr lang="en-IN" dirty="0"/>
                  <a:t>of shape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 i="1"/>
                          <m:t>𝑘</m:t>
                        </m:r>
                      </m:e>
                      <m:e>
                        <m:r>
                          <a:rPr lang="ar-AE" i="1"/>
                          <m:t>𝑑</m:t>
                        </m:r>
                      </m:e>
                    </m:d>
                    <m:r>
                      <a:rPr lang="ar-AE"/>
                      <m:t>=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3</m:t>
                        </m:r>
                      </m:e>
                      <m:e>
                        <m:r>
                          <a:rPr lang="ar-AE"/>
                          <m:t>784</m:t>
                        </m:r>
                      </m:e>
                    </m:d>
                  </m:oMath>
                </a14:m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F6A3B3-0ECF-B911-DE18-2257C61E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17" y="2776044"/>
                <a:ext cx="8229599" cy="2585323"/>
              </a:xfrm>
              <a:prstGeom prst="rect">
                <a:avLst/>
              </a:prstGeom>
              <a:blipFill>
                <a:blip r:embed="rId4"/>
                <a:stretch>
                  <a:fillRect l="-519" t="-1179" r="-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2AE524-F6A6-1CF4-45FC-A5C0DAF80CF2}"/>
                  </a:ext>
                </a:extLst>
              </p:cNvPr>
              <p:cNvSpPr txBox="1"/>
              <p:nvPr/>
            </p:nvSpPr>
            <p:spPr>
              <a:xfrm>
                <a:off x="2218417" y="1591824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/>
                        <m:t>Cv</m:t>
                      </m:r>
                      <m:r>
                        <m:rPr>
                          <m:nor/>
                        </m:rPr>
                        <a:rPr lang="en-IN" sz="2800"/>
                        <m:t>=</m:t>
                      </m:r>
                      <m:r>
                        <m:rPr>
                          <m:nor/>
                        </m:rPr>
                        <a:rPr lang="el-GR" sz="2800"/>
                        <m:t>λ</m:t>
                      </m:r>
                      <m:r>
                        <m:rPr>
                          <m:nor/>
                        </m:rPr>
                        <a:rPr lang="en-IN" sz="2800"/>
                        <m:t>v</m:t>
                      </m:r>
                    </m:oMath>
                  </m:oMathPara>
                </a14:m>
                <a:endParaRPr lang="ar-AE" sz="28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2AE524-F6A6-1CF4-45FC-A5C0DAF80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417" y="1591824"/>
                <a:ext cx="4572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100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98817-C7BD-2F33-0F76-5A47D02B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A9F0B9-694D-663A-4E6B-F84188809514}"/>
              </a:ext>
            </a:extLst>
          </p:cNvPr>
          <p:cNvSpPr/>
          <p:nvPr/>
        </p:nvSpPr>
        <p:spPr>
          <a:xfrm>
            <a:off x="457200" y="431483"/>
            <a:ext cx="7215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/>
              <a:t>Step 4: Project new data onto the components</a:t>
            </a:r>
            <a:endParaRPr lang="en-IN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03A8A-2126-483B-F0B0-272CA184B41B}"/>
                  </a:ext>
                </a:extLst>
              </p:cNvPr>
              <p:cNvSpPr txBox="1"/>
              <p:nvPr/>
            </p:nvSpPr>
            <p:spPr>
              <a:xfrm>
                <a:off x="690108" y="1530183"/>
                <a:ext cx="7487558" cy="1041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For any new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new</m:t>
                        </m:r>
                      </m:sub>
                    </m:sSub>
                  </m:oMath>
                </a14:m>
                <a:r>
                  <a:rPr lang="en-IN" sz="1600" dirty="0"/>
                  <a:t>in the original 784-dim space, its PCA coordinates are: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/>
                      <m:t>𝐩</m:t>
                    </m:r>
                    <m:r>
                      <a:rPr lang="en-IN"/>
                      <m:t>=</m:t>
                    </m:r>
                    <m:r>
                      <a:rPr lang="en-IN" i="1"/>
                      <m:t>𝑊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1"/>
                              <m:t>new</m:t>
                            </m:r>
                          </m:sub>
                        </m:sSub>
                        <m:r>
                          <a:rPr lang="ar-AE"/>
                          <m:t>−</m:t>
                        </m:r>
                        <m:limUpp>
                          <m:limUppPr>
                            <m:ctrlPr>
                              <a:rPr lang="ar-AE" i="1"/>
                            </m:ctrlPr>
                          </m:limUppPr>
                          <m:e>
                            <m:r>
                              <a:rPr lang="ar-AE" i="1"/>
                              <m:t>𝑥</m:t>
                            </m:r>
                          </m:e>
                          <m:lim>
                            <m:r>
                              <a:rPr lang="ar-AE"/>
                              <m:t>ˉ</m:t>
                            </m:r>
                          </m:lim>
                        </m:limUpp>
                      </m:e>
                    </m:d>
                  </m:oMath>
                </a14:m>
                <a:endParaRPr lang="en-IN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ar-AE" sz="16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03A8A-2126-483B-F0B0-272CA184B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08" y="1530183"/>
                <a:ext cx="7487558" cy="1041567"/>
              </a:xfrm>
              <a:prstGeom prst="rect">
                <a:avLst/>
              </a:prstGeom>
              <a:blipFill>
                <a:blip r:embed="rId3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38B3D5-1006-2C4F-BF50-4CA0539320EC}"/>
                  </a:ext>
                </a:extLst>
              </p:cNvPr>
              <p:cNvSpPr txBox="1"/>
              <p:nvPr/>
            </p:nvSpPr>
            <p:spPr>
              <a:xfrm>
                <a:off x="690108" y="2798836"/>
                <a:ext cx="7763783" cy="1702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That's a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784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784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N" dirty="0"/>
                  <a:t>vector three numbers that place the point in 3D PCA space. </a:t>
                </a:r>
              </a:p>
              <a:p>
                <a:pPr>
                  <a:buNone/>
                </a:pPr>
                <a:r>
                  <a:rPr lang="en-IN" dirty="0"/>
                  <a:t>Expanded out, each of the 3 coordinates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784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  <m:r>
                                <a:rPr lang="en-IN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lim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ˉ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38B3D5-1006-2C4F-BF50-4CA05393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08" y="2798836"/>
                <a:ext cx="7763783" cy="1702133"/>
              </a:xfrm>
              <a:prstGeom prst="rect">
                <a:avLst/>
              </a:prstGeom>
              <a:blipFill>
                <a:blip r:embed="rId4"/>
                <a:stretch>
                  <a:fillRect l="-628" t="-1792" r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03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D354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scalability wall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cube-per-neuron approach works perfectly for educational MNIST models but cannot scale to production networks. ResNet-152 has 60 million parameters — rendering each as an individual cube is computationally impossible. This is a fundamental trade-off: maximum visual clarity for small networks versus scalability.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solutions for scale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filtering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most active neurons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37490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instancing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4320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cubes without individual GameObjects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37490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detail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layers as flat textures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03720" y="37490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4088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which input pixels matter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280160"/>
            <a:ext cx="914400" cy="914400"/>
          </a:xfrm>
          <a:prstGeom prst="ellipse">
            <a:avLst/>
          </a:prstGeom>
          <a:solidFill>
            <a:srgbClr val="D354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abstract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tangible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the black box of neural networks into an explorable, physical 3D environment.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05840"/>
            <a:ext cx="2560320" cy="347472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280160"/>
            <a:ext cx="914400" cy="91440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630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6616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ML pipelines (PyTorch/ONNX) with Unity/Sentis unlocks 30+ FPS interactive tools.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005840"/>
            <a:ext cx="2560320" cy="347472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0" y="1280160"/>
            <a:ext cx="914400" cy="91440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224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concerns ensures the system remains modular and extensible.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Khumukcham  |  Arjun Ambekar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Dharwad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1065</Words>
  <Application>Microsoft Office PowerPoint</Application>
  <PresentationFormat>On-screen Show (16:9)</PresentationFormat>
  <Paragraphs>181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 for Visualizing Convolution in 3D-Space</dc:title>
  <dc:subject>PptxGenJS Presentation</dc:subject>
  <dc:creator>Nicholas Khumukcham &amp; Arjun Ambekar</dc:creator>
  <cp:lastModifiedBy>Nicholas Kh</cp:lastModifiedBy>
  <cp:revision>7</cp:revision>
  <dcterms:created xsi:type="dcterms:W3CDTF">2026-04-17T05:46:03Z</dcterms:created>
  <dcterms:modified xsi:type="dcterms:W3CDTF">2026-04-17T19:57:27Z</dcterms:modified>
</cp:coreProperties>
</file>